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3" r:id="rId3"/>
    <p:sldId id="264" r:id="rId4"/>
    <p:sldId id="259" r:id="rId5"/>
    <p:sldId id="260" r:id="rId6"/>
    <p:sldId id="261" r:id="rId7"/>
    <p:sldId id="265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717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4BE76-DE3C-5075-6FC0-E1D443C6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E3D95-0CA7-EFFB-B107-A7E82E8F7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4F063-54E9-F862-9749-7FBF22631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31E66-98D3-D9F1-CBDE-7BC49A6266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36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87E4-AAA8-20E4-61D3-941C2657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F7FF5-9083-ED45-7845-CCBB18939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B4DE2-BA1F-80F6-E555-E6A19298C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88FA2-1330-938D-4896-DB14312C84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9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9C6EE-1A50-A7A0-0BA5-8737525B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AB12D-DE9C-5905-C205-7EDEBDD63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2974B-1BFB-665F-694A-A54DCF523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8572E-8EA8-1D12-3F17-78CB11E79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43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B9BF-5195-D844-5D1F-3EA5212A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E6877-7A89-D748-6FBF-4FCDFFD6E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D26BB-FB24-F22B-28AA-32517BDFF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9F147-2F38-807A-30EF-F0FE6A0EE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34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de-DE" sz="3600" noProof="1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/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6</a:t>
            </a:r>
            <a:endParaRPr lang="de-DE" sz="1000" noProof="1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9" name="Text 7"/>
          <p:cNvSpPr/>
          <p:nvPr/>
        </p:nvSpPr>
        <p:spPr>
          <a:xfrm>
            <a:off x="640080" y="1581375"/>
            <a:ext cx="10911535" cy="1516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Verwaltet die Änderungsgeschichte eines </a:t>
            </a:r>
            <a:r>
              <a:rPr lang="de-DE" sz="1700" b="1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Repositories</a:t>
            </a: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de-DE" sz="1700" noProof="1">
                <a:latin typeface="Georgia" panose="02040502050405020303" pitchFamily="18" charset="0"/>
              </a:rPr>
              <a:t>Repository = Verzeichnis unter Git-Verwaltung</a:t>
            </a: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de-DE" sz="1700" noProof="1">
                <a:latin typeface="Georgia" panose="02040502050405020303" pitchFamily="18" charset="0"/>
              </a:rPr>
              <a:t>Enthält Projektdateien + vollständige Historie (im versteckten Ordner .git/)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34A1E-0EBD-DD10-46CC-2F349C38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0BE69A-3D49-EE96-E920-4E4FAC1F513D}"/>
              </a:ext>
            </a:extLst>
          </p:cNvPr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de-DE" sz="3600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BE558F-CEBB-4B89-ED2E-FC637B35A6B9}"/>
              </a:ext>
            </a:extLst>
          </p:cNvPr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67A5E3-D75B-FFC3-1824-F72CDCEC5590}"/>
              </a:ext>
            </a:extLst>
          </p:cNvPr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6</a:t>
            </a:r>
            <a:endParaRPr lang="de-DE" sz="10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033A10-84B2-E320-289D-806C52ABB059}"/>
              </a:ext>
            </a:extLst>
          </p:cNvPr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B4B3AA-54CC-C151-5184-062311A45A3A}"/>
              </a:ext>
            </a:extLst>
          </p:cNvPr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7117488-770E-A815-FDA4-43BF4A082100}"/>
              </a:ext>
            </a:extLst>
          </p:cNvPr>
          <p:cNvSpPr/>
          <p:nvPr/>
        </p:nvSpPr>
        <p:spPr>
          <a:xfrm>
            <a:off x="640080" y="1389083"/>
            <a:ext cx="10911535" cy="1326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Mit einem </a:t>
            </a:r>
            <a:r>
              <a:rPr lang="de-DE" sz="1700" b="1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Commit</a:t>
            </a: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 wird eine Fassung zu einem bestimmten Zeitpunkt als Snapshot; alle Snapshots bilden einen gerichteten Graphen</a:t>
            </a: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de-DE" sz="1700" noProof="1">
                <a:latin typeface="Georgia" panose="02040502050405020303" pitchFamily="18" charset="0"/>
              </a:rPr>
              <a:t>Commit enthält: Inhalt aller Dateien, Autor:in, Zeitstempel, Nachricht, Verweis auf vorigen Commit.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51069-4AC1-A477-FF28-8750E21B83ED}"/>
              </a:ext>
            </a:extLst>
          </p:cNvPr>
          <p:cNvSpPr txBox="1"/>
          <p:nvPr/>
        </p:nvSpPr>
        <p:spPr>
          <a:xfrm>
            <a:off x="640080" y="3090137"/>
            <a:ext cx="327570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A6A6A"/>
                </a:solidFill>
                <a:latin typeface="Georgia"/>
              </a:rPr>
              <a:t>Beispiel: Repository mit zwei Branches.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9CAE26C5-8FF9-D5FF-CF8F-161D90700333}"/>
              </a:ext>
            </a:extLst>
          </p:cNvPr>
          <p:cNvCxnSpPr/>
          <p:nvPr/>
        </p:nvCxnSpPr>
        <p:spPr>
          <a:xfrm>
            <a:off x="2331720" y="4050256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DD0952A-6857-7A4E-F020-BB28E9433138}"/>
              </a:ext>
            </a:extLst>
          </p:cNvPr>
          <p:cNvCxnSpPr/>
          <p:nvPr/>
        </p:nvCxnSpPr>
        <p:spPr>
          <a:xfrm>
            <a:off x="3611880" y="4050256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758B3783-B887-C346-78A5-FAB207CE654A}"/>
              </a:ext>
            </a:extLst>
          </p:cNvPr>
          <p:cNvCxnSpPr/>
          <p:nvPr/>
        </p:nvCxnSpPr>
        <p:spPr>
          <a:xfrm>
            <a:off x="4892040" y="4050256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9368E5DF-FB5B-6759-0D6F-6B8A8BD108BA}"/>
              </a:ext>
            </a:extLst>
          </p:cNvPr>
          <p:cNvCxnSpPr/>
          <p:nvPr/>
        </p:nvCxnSpPr>
        <p:spPr>
          <a:xfrm>
            <a:off x="6172200" y="4050256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D8CE4DFB-CC4E-3B84-0835-76AAFA0539E0}"/>
              </a:ext>
            </a:extLst>
          </p:cNvPr>
          <p:cNvCxnSpPr/>
          <p:nvPr/>
        </p:nvCxnSpPr>
        <p:spPr>
          <a:xfrm>
            <a:off x="3509010" y="4175987"/>
            <a:ext cx="1017269" cy="88011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88ACCA5C-4BEC-4D72-FC4F-1C79F6E620F7}"/>
              </a:ext>
            </a:extLst>
          </p:cNvPr>
          <p:cNvCxnSpPr/>
          <p:nvPr/>
        </p:nvCxnSpPr>
        <p:spPr>
          <a:xfrm>
            <a:off x="4892040" y="5147537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A5B4DA2-48B9-0C63-54CE-728B123DEF47}"/>
              </a:ext>
            </a:extLst>
          </p:cNvPr>
          <p:cNvSpPr/>
          <p:nvPr/>
        </p:nvSpPr>
        <p:spPr>
          <a:xfrm>
            <a:off x="1874519" y="3821656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a1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6F2BCE0-42B1-F67C-1BAD-6ACBBF5EE943}"/>
              </a:ext>
            </a:extLst>
          </p:cNvPr>
          <p:cNvSpPr/>
          <p:nvPr/>
        </p:nvSpPr>
        <p:spPr>
          <a:xfrm>
            <a:off x="3154680" y="3821656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b2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048F09-378E-6ED5-0941-9F0D3088B69F}"/>
              </a:ext>
            </a:extLst>
          </p:cNvPr>
          <p:cNvSpPr/>
          <p:nvPr/>
        </p:nvSpPr>
        <p:spPr>
          <a:xfrm>
            <a:off x="4434840" y="3821656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c3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71040A-4CAA-2479-94B1-4AF2DF0AADFD}"/>
              </a:ext>
            </a:extLst>
          </p:cNvPr>
          <p:cNvSpPr/>
          <p:nvPr/>
        </p:nvSpPr>
        <p:spPr>
          <a:xfrm>
            <a:off x="5715000" y="3821656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d4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C18933-E9D3-C6B2-C1EE-CCEDABD74B80}"/>
              </a:ext>
            </a:extLst>
          </p:cNvPr>
          <p:cNvSpPr/>
          <p:nvPr/>
        </p:nvSpPr>
        <p:spPr>
          <a:xfrm>
            <a:off x="6995160" y="3821656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e5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BB315F7-11D6-E36B-1909-23F639400105}"/>
              </a:ext>
            </a:extLst>
          </p:cNvPr>
          <p:cNvSpPr/>
          <p:nvPr/>
        </p:nvSpPr>
        <p:spPr>
          <a:xfrm>
            <a:off x="4434840" y="4918937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7A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x1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4C960E-F337-018D-194B-474F7724D631}"/>
              </a:ext>
            </a:extLst>
          </p:cNvPr>
          <p:cNvSpPr/>
          <p:nvPr/>
        </p:nvSpPr>
        <p:spPr>
          <a:xfrm>
            <a:off x="5715000" y="4918937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7A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y2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AE66FB-FCC9-877A-5CC4-B2F01B1F8587}"/>
              </a:ext>
            </a:extLst>
          </p:cNvPr>
          <p:cNvSpPr txBox="1"/>
          <p:nvPr/>
        </p:nvSpPr>
        <p:spPr>
          <a:xfrm>
            <a:off x="7635240" y="3942534"/>
            <a:ext cx="7234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A1F2B"/>
                </a:solidFill>
                <a:latin typeface="Consolas"/>
              </a:rPr>
              <a:t>← main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F4A0E-CAB6-8EB2-3B4F-CC6F85221638}"/>
              </a:ext>
            </a:extLst>
          </p:cNvPr>
          <p:cNvSpPr txBox="1"/>
          <p:nvPr/>
        </p:nvSpPr>
        <p:spPr>
          <a:xfrm>
            <a:off x="6355080" y="5039815"/>
            <a:ext cx="1097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7A1F2B"/>
                </a:solidFill>
                <a:latin typeface="Consolas"/>
              </a:rPr>
              <a:t>← feature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087CDD-CE3D-4A13-065F-2A9EFE3F863E}"/>
              </a:ext>
            </a:extLst>
          </p:cNvPr>
          <p:cNvSpPr txBox="1"/>
          <p:nvPr/>
        </p:nvSpPr>
        <p:spPr>
          <a:xfrm>
            <a:off x="6720840" y="3181576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7A1F2B"/>
                </a:solidFill>
                <a:latin typeface="Consolas"/>
              </a:rPr>
              <a:t>HEAD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0A0BBCEC-EAC1-E19C-5415-8B0904122B48}"/>
              </a:ext>
            </a:extLst>
          </p:cNvPr>
          <p:cNvCxnSpPr/>
          <p:nvPr/>
        </p:nvCxnSpPr>
        <p:spPr>
          <a:xfrm>
            <a:off x="7223760" y="3501616"/>
            <a:ext cx="0" cy="301752"/>
          </a:xfrm>
          <a:prstGeom prst="line">
            <a:avLst/>
          </a:prstGeom>
          <a:ln w="9525">
            <a:solidFill>
              <a:srgbClr val="7A1F2B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8287F1C-57C7-1FAF-7A22-9717534A56B3}"/>
              </a:ext>
            </a:extLst>
          </p:cNvPr>
          <p:cNvSpPr txBox="1"/>
          <p:nvPr/>
        </p:nvSpPr>
        <p:spPr>
          <a:xfrm>
            <a:off x="1325879" y="3547337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 dirty="0">
                <a:solidFill>
                  <a:srgbClr val="6A6A6A"/>
                </a:solidFill>
                <a:latin typeface="Georgia"/>
              </a:rPr>
              <a:t>Commit (Snapshot)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E51F5981-CC01-6054-3BAC-579D7E0630A1}"/>
              </a:ext>
            </a:extLst>
          </p:cNvPr>
          <p:cNvCxnSpPr/>
          <p:nvPr/>
        </p:nvCxnSpPr>
        <p:spPr>
          <a:xfrm flipV="1">
            <a:off x="2103120" y="3803368"/>
            <a:ext cx="0" cy="18288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A2BE534-C543-7768-BD30-1093036CC8AC}"/>
              </a:ext>
            </a:extLst>
          </p:cNvPr>
          <p:cNvSpPr txBox="1"/>
          <p:nvPr/>
        </p:nvSpPr>
        <p:spPr>
          <a:xfrm>
            <a:off x="4526280" y="3547337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A6A6A"/>
                </a:solidFill>
                <a:latin typeface="Georgia"/>
              </a:rPr>
              <a:t>Eltern-Verweis</a:t>
            </a:r>
          </a:p>
        </p:txBody>
      </p: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46E40E37-7679-A91F-7781-40AB02BF9163}"/>
              </a:ext>
            </a:extLst>
          </p:cNvPr>
          <p:cNvCxnSpPr/>
          <p:nvPr/>
        </p:nvCxnSpPr>
        <p:spPr>
          <a:xfrm>
            <a:off x="5303520" y="3821656"/>
            <a:ext cx="0" cy="192024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8078650-E5E7-0F21-5EF5-39DB63587636}"/>
              </a:ext>
            </a:extLst>
          </p:cNvPr>
          <p:cNvSpPr txBox="1"/>
          <p:nvPr/>
        </p:nvSpPr>
        <p:spPr>
          <a:xfrm>
            <a:off x="9170142" y="4468429"/>
            <a:ext cx="146572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latin typeface="Georgia"/>
              </a:rPr>
              <a:t>Branch</a:t>
            </a:r>
            <a:r>
              <a:rPr sz="1100" dirty="0">
                <a:latin typeface="Georgia"/>
              </a:rPr>
              <a:t> </a:t>
            </a:r>
            <a:r>
              <a:rPr sz="1100" dirty="0" err="1">
                <a:latin typeface="Georgia"/>
              </a:rPr>
              <a:t>ist</a:t>
            </a:r>
            <a:r>
              <a:rPr sz="1100" dirty="0">
                <a:latin typeface="Georgia"/>
              </a:rPr>
              <a:t> </a:t>
            </a:r>
            <a:r>
              <a:rPr sz="1100" dirty="0" err="1">
                <a:latin typeface="Georgia"/>
              </a:rPr>
              <a:t>ein</a:t>
            </a:r>
            <a:r>
              <a:rPr sz="1100" dirty="0">
                <a:latin typeface="Georgia"/>
              </a:rPr>
              <a:t> Zeiger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78947E52-E849-9C27-3866-1EF084F44912}"/>
              </a:ext>
            </a:extLst>
          </p:cNvPr>
          <p:cNvCxnSpPr>
            <a:cxnSpLocks/>
            <a:stCxn id="32" idx="0"/>
            <a:endCxn id="24" idx="3"/>
          </p:cNvCxnSpPr>
          <p:nvPr/>
        </p:nvCxnSpPr>
        <p:spPr>
          <a:xfrm flipH="1" flipV="1">
            <a:off x="8358692" y="4050256"/>
            <a:ext cx="1544315" cy="418173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715A80F-C2F4-EA9B-AB54-576FA83D7A61}"/>
              </a:ext>
            </a:extLst>
          </p:cNvPr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A6A6A"/>
                </a:solidFill>
                <a:latin typeface="Georgia"/>
              </a:rPr>
              <a:t>Jeder neue Commit zeigt auf seinen Vorgänger. Ein Branch ist nichts weiter als ein Name, der auf einen Commit zeigt — und mit jedem neuen Commit weiterwandert. HEAD markiert den aktuell ausgewählten Branch.</a:t>
            </a:r>
          </a:p>
        </p:txBody>
      </p:sp>
      <p:cxnSp>
        <p:nvCxnSpPr>
          <p:cNvPr id="36" name="Connector 32">
            <a:extLst>
              <a:ext uri="{FF2B5EF4-FFF2-40B4-BE49-F238E27FC236}">
                <a16:creationId xmlns:a16="http://schemas.microsoft.com/office/drawing/2014/main" id="{75E5DC37-6E0B-D944-7276-C3C85FB6E929}"/>
              </a:ext>
            </a:extLst>
          </p:cNvPr>
          <p:cNvCxnSpPr>
            <a:cxnSpLocks/>
            <a:stCxn id="32" idx="2"/>
            <a:endCxn id="25" idx="3"/>
          </p:cNvCxnSpPr>
          <p:nvPr/>
        </p:nvCxnSpPr>
        <p:spPr>
          <a:xfrm flipH="1">
            <a:off x="7452360" y="4637706"/>
            <a:ext cx="2450647" cy="509831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13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87531-8B32-04BB-9C54-A612A91CA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35606E-84A4-C368-DFB8-FE0CB965C4B9}"/>
              </a:ext>
            </a:extLst>
          </p:cNvPr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de-DE" sz="3600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6120E1-A41A-CE1A-1A6A-0979AFBA71A7}"/>
              </a:ext>
            </a:extLst>
          </p:cNvPr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9F0B65-A656-7F8F-1115-4300B42741F0}"/>
              </a:ext>
            </a:extLst>
          </p:cNvPr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6</a:t>
            </a:r>
            <a:endParaRPr lang="de-DE" sz="10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669A1E1-EDC9-8772-1562-D9274A39025A}"/>
              </a:ext>
            </a:extLst>
          </p:cNvPr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647BDD-39FC-66A3-A56E-5D1DCD524C59}"/>
              </a:ext>
            </a:extLst>
          </p:cNvPr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15E6B28-9BCB-C6EB-052E-5192FF60763C}"/>
              </a:ext>
            </a:extLst>
          </p:cNvPr>
          <p:cNvSpPr/>
          <p:nvPr/>
        </p:nvSpPr>
        <p:spPr>
          <a:xfrm>
            <a:off x="640080" y="1389083"/>
            <a:ext cx="10911535" cy="1326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Beim </a:t>
            </a:r>
            <a:r>
              <a:rPr lang="de-DE" sz="1700" b="1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Merge</a:t>
            </a: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 entsteht ein neuer Commit mit zwei Eltern: dem bisherigen Stand von </a:t>
            </a:r>
            <a:r>
              <a:rPr lang="de-DE" sz="1700" b="1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main</a:t>
            </a: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 (e5) und der Spitze des </a:t>
            </a:r>
            <a:r>
              <a:rPr lang="de-DE" sz="1700" b="1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feature</a:t>
            </a: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-Branches (y2). main wandert auf den Merge-Commit</a:t>
            </a: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de-DE" sz="1700" noProof="1">
                <a:solidFill>
                  <a:srgbClr val="11111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feature bleibt auf y2 stehen und kann weiterentwickelt oder gelöscht werden</a:t>
            </a:r>
            <a:endParaRPr lang="de-DE" sz="1700" noProof="1">
              <a:latin typeface="Georgia" panose="02040502050405020303" pitchFamily="18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B11267A5-82F4-D1DB-5C18-7585D530BD05}"/>
              </a:ext>
            </a:extLst>
          </p:cNvPr>
          <p:cNvSpPr txBox="1"/>
          <p:nvPr/>
        </p:nvSpPr>
        <p:spPr>
          <a:xfrm>
            <a:off x="640080" y="3036349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A6A6A"/>
                </a:solidFill>
                <a:latin typeface="Georgia"/>
              </a:rPr>
              <a:t>Beispiel: nach dem Merge der Branches.</a:t>
            </a:r>
          </a:p>
        </p:txBody>
      </p:sp>
      <p:cxnSp>
        <p:nvCxnSpPr>
          <p:cNvPr id="35" name="Connector 10">
            <a:extLst>
              <a:ext uri="{FF2B5EF4-FFF2-40B4-BE49-F238E27FC236}">
                <a16:creationId xmlns:a16="http://schemas.microsoft.com/office/drawing/2014/main" id="{4A2339EC-4743-178E-DEEC-44BF4997605D}"/>
              </a:ext>
            </a:extLst>
          </p:cNvPr>
          <p:cNvCxnSpPr/>
          <p:nvPr/>
        </p:nvCxnSpPr>
        <p:spPr>
          <a:xfrm>
            <a:off x="2331720" y="3996468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1">
            <a:extLst>
              <a:ext uri="{FF2B5EF4-FFF2-40B4-BE49-F238E27FC236}">
                <a16:creationId xmlns:a16="http://schemas.microsoft.com/office/drawing/2014/main" id="{052FD051-577A-2E33-2379-0D7BD35823D2}"/>
              </a:ext>
            </a:extLst>
          </p:cNvPr>
          <p:cNvCxnSpPr/>
          <p:nvPr/>
        </p:nvCxnSpPr>
        <p:spPr>
          <a:xfrm>
            <a:off x="3611880" y="3996468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2">
            <a:extLst>
              <a:ext uri="{FF2B5EF4-FFF2-40B4-BE49-F238E27FC236}">
                <a16:creationId xmlns:a16="http://schemas.microsoft.com/office/drawing/2014/main" id="{F9491467-67E8-4856-0A2B-3535A8495D48}"/>
              </a:ext>
            </a:extLst>
          </p:cNvPr>
          <p:cNvCxnSpPr/>
          <p:nvPr/>
        </p:nvCxnSpPr>
        <p:spPr>
          <a:xfrm>
            <a:off x="4892040" y="3996468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13">
            <a:extLst>
              <a:ext uri="{FF2B5EF4-FFF2-40B4-BE49-F238E27FC236}">
                <a16:creationId xmlns:a16="http://schemas.microsoft.com/office/drawing/2014/main" id="{21CC9118-C683-3E61-CA03-89BC93403F04}"/>
              </a:ext>
            </a:extLst>
          </p:cNvPr>
          <p:cNvCxnSpPr/>
          <p:nvPr/>
        </p:nvCxnSpPr>
        <p:spPr>
          <a:xfrm>
            <a:off x="6172200" y="3996468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4">
            <a:extLst>
              <a:ext uri="{FF2B5EF4-FFF2-40B4-BE49-F238E27FC236}">
                <a16:creationId xmlns:a16="http://schemas.microsoft.com/office/drawing/2014/main" id="{9E3063C9-D4B9-DFE8-BAFB-BD49A76704D0}"/>
              </a:ext>
            </a:extLst>
          </p:cNvPr>
          <p:cNvCxnSpPr/>
          <p:nvPr/>
        </p:nvCxnSpPr>
        <p:spPr>
          <a:xfrm>
            <a:off x="7452360" y="3996468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5">
            <a:extLst>
              <a:ext uri="{FF2B5EF4-FFF2-40B4-BE49-F238E27FC236}">
                <a16:creationId xmlns:a16="http://schemas.microsoft.com/office/drawing/2014/main" id="{8C783074-FC40-848B-7A84-70E9CCA36B0B}"/>
              </a:ext>
            </a:extLst>
          </p:cNvPr>
          <p:cNvCxnSpPr/>
          <p:nvPr/>
        </p:nvCxnSpPr>
        <p:spPr>
          <a:xfrm>
            <a:off x="3509010" y="4122199"/>
            <a:ext cx="1017269" cy="88011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6">
            <a:extLst>
              <a:ext uri="{FF2B5EF4-FFF2-40B4-BE49-F238E27FC236}">
                <a16:creationId xmlns:a16="http://schemas.microsoft.com/office/drawing/2014/main" id="{24D87545-674D-CD20-78E1-B274EFF60343}"/>
              </a:ext>
            </a:extLst>
          </p:cNvPr>
          <p:cNvCxnSpPr/>
          <p:nvPr/>
        </p:nvCxnSpPr>
        <p:spPr>
          <a:xfrm>
            <a:off x="4892040" y="5093749"/>
            <a:ext cx="8229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7">
            <a:extLst>
              <a:ext uri="{FF2B5EF4-FFF2-40B4-BE49-F238E27FC236}">
                <a16:creationId xmlns:a16="http://schemas.microsoft.com/office/drawing/2014/main" id="{56E767BE-04BF-1E92-0A42-9F1774DE23C3}"/>
              </a:ext>
            </a:extLst>
          </p:cNvPr>
          <p:cNvCxnSpPr>
            <a:cxnSpLocks/>
            <a:stCxn id="49" idx="6"/>
            <a:endCxn id="50" idx="3"/>
          </p:cNvCxnSpPr>
          <p:nvPr/>
        </p:nvCxnSpPr>
        <p:spPr>
          <a:xfrm flipV="1">
            <a:off x="6172200" y="4158113"/>
            <a:ext cx="2170075" cy="935636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42B539C6-50DB-F3F5-1436-F5E05547B5E2}"/>
              </a:ext>
            </a:extLst>
          </p:cNvPr>
          <p:cNvSpPr/>
          <p:nvPr/>
        </p:nvSpPr>
        <p:spPr>
          <a:xfrm>
            <a:off x="1874519" y="3767868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a1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AB350B9-70D2-5389-28B7-7DC9B7ECBDFB}"/>
              </a:ext>
            </a:extLst>
          </p:cNvPr>
          <p:cNvSpPr/>
          <p:nvPr/>
        </p:nvSpPr>
        <p:spPr>
          <a:xfrm>
            <a:off x="3154680" y="3767868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98935C4-B4CA-74FF-EE2F-2C677D2BED6B}"/>
              </a:ext>
            </a:extLst>
          </p:cNvPr>
          <p:cNvSpPr/>
          <p:nvPr/>
        </p:nvSpPr>
        <p:spPr>
          <a:xfrm>
            <a:off x="4434840" y="3767868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c3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7930FD-100D-58C0-6B31-86ACB2763118}"/>
              </a:ext>
            </a:extLst>
          </p:cNvPr>
          <p:cNvSpPr/>
          <p:nvPr/>
        </p:nvSpPr>
        <p:spPr>
          <a:xfrm>
            <a:off x="5715000" y="3767868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d4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7DC431E-C528-3D1B-2A8F-F7BE9061E526}"/>
              </a:ext>
            </a:extLst>
          </p:cNvPr>
          <p:cNvSpPr/>
          <p:nvPr/>
        </p:nvSpPr>
        <p:spPr>
          <a:xfrm>
            <a:off x="6995160" y="3767868"/>
            <a:ext cx="457200" cy="457200"/>
          </a:xfrm>
          <a:prstGeom prst="ellipse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e5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2D65D86-89E4-7FA1-53F4-205B78B61C31}"/>
              </a:ext>
            </a:extLst>
          </p:cNvPr>
          <p:cNvSpPr/>
          <p:nvPr/>
        </p:nvSpPr>
        <p:spPr>
          <a:xfrm>
            <a:off x="4434840" y="4865149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7A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x1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641EA36-9236-E972-F73F-BD3183E234BD}"/>
              </a:ext>
            </a:extLst>
          </p:cNvPr>
          <p:cNvSpPr/>
          <p:nvPr/>
        </p:nvSpPr>
        <p:spPr>
          <a:xfrm>
            <a:off x="5715000" y="4865149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7A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y2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1F1DC1D-64B9-A713-5A8E-F88C03893CDB}"/>
              </a:ext>
            </a:extLst>
          </p:cNvPr>
          <p:cNvSpPr/>
          <p:nvPr/>
        </p:nvSpPr>
        <p:spPr>
          <a:xfrm>
            <a:off x="8275320" y="3767868"/>
            <a:ext cx="457200" cy="457200"/>
          </a:xfrm>
          <a:prstGeom prst="ellipse">
            <a:avLst/>
          </a:prstGeom>
          <a:solidFill>
            <a:srgbClr val="C9A66B"/>
          </a:solidFill>
          <a:ln>
            <a:solidFill>
              <a:srgbClr val="C9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Consolas"/>
              </a:rPr>
              <a:t>m6</a:t>
            </a: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3E44ADA3-1F9D-2A40-7765-ADF08030D24E}"/>
              </a:ext>
            </a:extLst>
          </p:cNvPr>
          <p:cNvSpPr txBox="1"/>
          <p:nvPr/>
        </p:nvSpPr>
        <p:spPr>
          <a:xfrm>
            <a:off x="8915400" y="3831876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A1F2B"/>
                </a:solidFill>
                <a:latin typeface="Consolas"/>
              </a:rPr>
              <a:t>← main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0A19A548-C259-AAC7-64A7-2772F65E2A39}"/>
              </a:ext>
            </a:extLst>
          </p:cNvPr>
          <p:cNvSpPr txBox="1"/>
          <p:nvPr/>
        </p:nvSpPr>
        <p:spPr>
          <a:xfrm>
            <a:off x="6355080" y="4929157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A1F2B"/>
                </a:solidFill>
                <a:latin typeface="Consolas"/>
              </a:rPr>
              <a:t>← feature</a:t>
            </a: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8404D181-467E-79C8-0F75-FA392AC40717}"/>
              </a:ext>
            </a:extLst>
          </p:cNvPr>
          <p:cNvSpPr txBox="1"/>
          <p:nvPr/>
        </p:nvSpPr>
        <p:spPr>
          <a:xfrm>
            <a:off x="8001000" y="312778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7A1F2B"/>
                </a:solidFill>
                <a:latin typeface="Consolas"/>
              </a:rPr>
              <a:t>HEAD</a:t>
            </a:r>
          </a:p>
        </p:txBody>
      </p:sp>
      <p:cxnSp>
        <p:nvCxnSpPr>
          <p:cNvPr id="54" name="Connector 29">
            <a:extLst>
              <a:ext uri="{FF2B5EF4-FFF2-40B4-BE49-F238E27FC236}">
                <a16:creationId xmlns:a16="http://schemas.microsoft.com/office/drawing/2014/main" id="{99A735A1-DF9B-D2C1-A1CB-926A9CEB4CFC}"/>
              </a:ext>
            </a:extLst>
          </p:cNvPr>
          <p:cNvCxnSpPr/>
          <p:nvPr/>
        </p:nvCxnSpPr>
        <p:spPr>
          <a:xfrm>
            <a:off x="8503920" y="3447828"/>
            <a:ext cx="0" cy="301752"/>
          </a:xfrm>
          <a:prstGeom prst="line">
            <a:avLst/>
          </a:prstGeom>
          <a:ln w="9525">
            <a:solidFill>
              <a:srgbClr val="7A1F2B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31">
            <a:extLst>
              <a:ext uri="{FF2B5EF4-FFF2-40B4-BE49-F238E27FC236}">
                <a16:creationId xmlns:a16="http://schemas.microsoft.com/office/drawing/2014/main" id="{89343C31-9D26-85E1-ECF8-1D607EFB3D6B}"/>
              </a:ext>
            </a:extLst>
          </p:cNvPr>
          <p:cNvCxnSpPr/>
          <p:nvPr/>
        </p:nvCxnSpPr>
        <p:spPr>
          <a:xfrm flipV="1">
            <a:off x="8503920" y="3749580"/>
            <a:ext cx="0" cy="18288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30">
            <a:extLst>
              <a:ext uri="{FF2B5EF4-FFF2-40B4-BE49-F238E27FC236}">
                <a16:creationId xmlns:a16="http://schemas.microsoft.com/office/drawing/2014/main" id="{627DE556-971D-E81A-F939-B5C791FCD6F0}"/>
              </a:ext>
            </a:extLst>
          </p:cNvPr>
          <p:cNvSpPr txBox="1"/>
          <p:nvPr/>
        </p:nvSpPr>
        <p:spPr>
          <a:xfrm>
            <a:off x="8503920" y="3481713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 dirty="0">
                <a:solidFill>
                  <a:srgbClr val="6A6A6A"/>
                </a:solidFill>
                <a:latin typeface="Georgia"/>
              </a:rPr>
              <a:t>Merge-Commit (</a:t>
            </a:r>
            <a:r>
              <a:rPr sz="1100" b="0" i="1" dirty="0" err="1">
                <a:solidFill>
                  <a:srgbClr val="6A6A6A"/>
                </a:solidFill>
                <a:latin typeface="Georgia"/>
              </a:rPr>
              <a:t>zwei</a:t>
            </a:r>
            <a:r>
              <a:rPr sz="1100" b="0" i="1" dirty="0">
                <a:solidFill>
                  <a:srgbClr val="6A6A6A"/>
                </a:solidFill>
                <a:latin typeface="Georgia"/>
              </a:rPr>
              <a:t> </a:t>
            </a:r>
            <a:r>
              <a:rPr sz="1100" b="0" i="1" dirty="0" err="1">
                <a:solidFill>
                  <a:srgbClr val="6A6A6A"/>
                </a:solidFill>
                <a:latin typeface="Georgia"/>
              </a:rPr>
              <a:t>Eltern</a:t>
            </a:r>
            <a:r>
              <a:rPr sz="1100" b="0" i="1" dirty="0">
                <a:solidFill>
                  <a:srgbClr val="6A6A6A"/>
                </a:solidFill>
                <a:latin typeface="Georg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289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de-DE" sz="3600" noProof="1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/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6</a:t>
            </a:r>
            <a:endParaRPr lang="de-DE" sz="1000" noProof="1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8" name="Text 6"/>
          <p:cNvSpPr/>
          <p:nvPr/>
        </p:nvSpPr>
        <p:spPr>
          <a:xfrm>
            <a:off x="640080" y="1508761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sz="1500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Webdienst, der Git-Repositorys hostet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sz="1400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auf GitHub = Kopie eines Git-Repos auf einem Server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sz="1400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Nützlich zur Zusammenarbeit:</a:t>
            </a:r>
            <a:endParaRPr lang="de-DE" sz="1500" noProof="1">
              <a:solidFill>
                <a:srgbClr val="111111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13327"/>
              </p:ext>
            </p:extLst>
          </p:nvPr>
        </p:nvGraphicFramePr>
        <p:xfrm>
          <a:off x="640079" y="3360419"/>
          <a:ext cx="10911535" cy="1783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2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rgbClr val="7A1F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Issues</a:t>
                      </a:r>
                      <a:endParaRPr lang="de-DE" sz="1300" noProof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016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4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Aufgabenliste, Fehlerberichte, Diskussionen pro Repo.</a:t>
                      </a:r>
                      <a:endParaRPr lang="de-DE" sz="1400" noProof="1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rgbClr val="7A1F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Pull Requests</a:t>
                      </a:r>
                      <a:endParaRPr lang="de-DE" sz="1300" noProof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016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4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Vorschlag zur Übernahme von Branch-Änderungen; prüfbar, kommentierbar =&gt; </a:t>
                      </a:r>
                      <a:r>
                        <a:rPr lang="de-DE" sz="1400" b="1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Merge</a:t>
                      </a:r>
                      <a:endParaRPr lang="de-DE" sz="1400" b="1" noProof="1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Actions</a:t>
                      </a:r>
                      <a:endParaRPr lang="de-DE" sz="13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016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4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Automatisch ausgeführte Skripte (Tests, Deployments).</a:t>
                      </a:r>
                      <a:endParaRPr lang="de-DE" sz="14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Alternativen: GitLab, Bitbucket, Codeberg</a:t>
            </a:r>
            <a:endParaRPr lang="de-DE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/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6</a:t>
            </a:r>
            <a:endParaRPr lang="de-DE" sz="1000" noProof="1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de-DE" sz="1600" noProof="1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GitHub-Account anlegen.</a:t>
            </a:r>
            <a:endParaRPr lang="de-DE" sz="1600" noProof="1"/>
          </a:p>
        </p:txBody>
      </p:sp>
      <p:sp>
        <p:nvSpPr>
          <p:cNvPr id="11" name="Text 9"/>
          <p:cNvSpPr/>
          <p:nvPr/>
        </p:nvSpPr>
        <p:spPr>
          <a:xfrm>
            <a:off x="1097280" y="240487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de-DE" sz="1300" noProof="1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github.com/signup · eigene E-Mail-Adresse · Username frei wählbar</a:t>
            </a:r>
            <a:endParaRPr lang="de-DE" sz="1300" noProof="1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de-DE" sz="1600" noProof="1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Username mitteilen.</a:t>
            </a:r>
            <a:endParaRPr lang="de-DE" sz="1600" noProof="1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de-DE" sz="1300" noProof="1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kurze Mail an niels.pfeffer@gmail.com mit dem GitHub-Username</a:t>
            </a:r>
            <a:endParaRPr lang="de-DE" sz="1300" noProof="1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de-DE" sz="1600" noProof="1"/>
          </a:p>
        </p:txBody>
      </p:sp>
      <p:sp>
        <p:nvSpPr>
          <p:cNvPr id="16" name="Text 14"/>
          <p:cNvSpPr/>
          <p:nvPr/>
        </p:nvSpPr>
        <p:spPr>
          <a:xfrm>
            <a:off x="1097280" y="361188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Einladung annehmen.</a:t>
            </a:r>
            <a:endParaRPr lang="de-DE" sz="1600" noProof="1"/>
          </a:p>
        </p:txBody>
      </p:sp>
      <p:sp>
        <p:nvSpPr>
          <p:cNvPr id="17" name="Text 15"/>
          <p:cNvSpPr/>
          <p:nvPr/>
        </p:nvSpPr>
        <p:spPr>
          <a:xfrm>
            <a:off x="1097280" y="395935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de-DE" sz="1300" noProof="1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Mail von GitHub → „Accept invitation“</a:t>
            </a:r>
            <a:endParaRPr lang="de-DE" sz="1300" noProof="1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de-DE" sz="1600" noProof="1"/>
          </a:p>
        </p:txBody>
      </p:sp>
      <p:sp>
        <p:nvSpPr>
          <p:cNvPr id="19" name="Text 17"/>
          <p:cNvSpPr/>
          <p:nvPr/>
        </p:nvSpPr>
        <p:spPr>
          <a:xfrm>
            <a:off x="1097280" y="438912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öffnen.</a:t>
            </a:r>
            <a:endParaRPr lang="de-DE" sz="1600" noProof="1"/>
          </a:p>
        </p:txBody>
      </p:sp>
      <p:sp>
        <p:nvSpPr>
          <p:cNvPr id="20" name="Text 18"/>
          <p:cNvSpPr/>
          <p:nvPr/>
        </p:nvSpPr>
        <p:spPr>
          <a:xfrm>
            <a:off x="1097280" y="473659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de-DE" sz="1300" noProof="1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github.com/digimuwi/vibe-coding-seminar im Browser aufrufen</a:t>
            </a:r>
            <a:endParaRPr lang="de-DE" sz="1300" noProof="1"/>
          </a:p>
        </p:txBody>
      </p:sp>
      <p:sp>
        <p:nvSpPr>
          <p:cNvPr id="21" name="Text 19"/>
          <p:cNvSpPr/>
          <p:nvPr/>
        </p:nvSpPr>
        <p:spPr>
          <a:xfrm>
            <a:off x="640080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de-DE" sz="1600" noProof="1"/>
          </a:p>
        </p:txBody>
      </p:sp>
      <p:sp>
        <p:nvSpPr>
          <p:cNvPr id="22" name="Text 20"/>
          <p:cNvSpPr/>
          <p:nvPr/>
        </p:nvSpPr>
        <p:spPr>
          <a:xfrm>
            <a:off x="1097280" y="516636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mit GitHub verbinden.</a:t>
            </a:r>
            <a:endParaRPr lang="de-DE" sz="1600" noProof="1"/>
          </a:p>
        </p:txBody>
      </p:sp>
      <p:sp>
        <p:nvSpPr>
          <p:cNvPr id="23" name="Text 21"/>
          <p:cNvSpPr/>
          <p:nvPr/>
        </p:nvSpPr>
        <p:spPr>
          <a:xfrm>
            <a:off x="1097280" y="551383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de-DE" sz="1300" noProof="1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bitten: „Installiere die GitHub CLI und melde mich an.“ — kein Befehl auswendig nötig.</a:t>
            </a:r>
            <a:endParaRPr lang="de-DE" sz="1300" noProof="1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0265FA59-2CFD-2D4C-84AF-94D9B7CD6D43}"/>
              </a:ext>
            </a:extLst>
          </p:cNvPr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de-DE" sz="36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de-DE" sz="3600" noProof="1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/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de-DE" sz="1000" noProof="1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2728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400"/>
              </a:spcAft>
              <a:buSzPct val="100000"/>
            </a:pPr>
            <a:r>
              <a:rPr lang="de-DE" sz="1300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das Seminar nutzen wir ein „Monorepo. Jedes Projekt hat ein eigenes Unterverzeichnis.</a:t>
            </a:r>
            <a:endParaRPr lang="de-DE" sz="1300" noProof="1"/>
          </a:p>
        </p:txBody>
      </p:sp>
      <p:sp>
        <p:nvSpPr>
          <p:cNvPr id="10" name="Text 8"/>
          <p:cNvSpPr/>
          <p:nvPr/>
        </p:nvSpPr>
        <p:spPr>
          <a:xfrm>
            <a:off x="640079" y="3200400"/>
            <a:ext cx="5455755" cy="2331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>
                <a:latin typeface="Consolas"/>
              </a:rPr>
              <a:t>vibe-coding-seminar/</a:t>
            </a:r>
          </a:p>
          <a:p>
            <a:r>
              <a:rPr sz="1400" dirty="0">
                <a:latin typeface="Consolas"/>
              </a:rPr>
              <a:t>├── </a:t>
            </a:r>
            <a:r>
              <a:rPr sz="1400" dirty="0" err="1">
                <a:latin typeface="Consolas"/>
              </a:rPr>
              <a:t>musikgeschichte</a:t>
            </a:r>
            <a:r>
              <a:rPr sz="1400" dirty="0">
                <a:latin typeface="Consolas"/>
              </a:rPr>
              <a:t>/</a:t>
            </a:r>
            <a:r>
              <a:rPr lang="de-DE" sz="1400" dirty="0">
                <a:latin typeface="Consolas"/>
              </a:rPr>
              <a:t>	</a:t>
            </a:r>
            <a:r>
              <a:rPr lang="de-DE" sz="1400" b="1" dirty="0">
                <a:latin typeface="Consolas"/>
              </a:rPr>
              <a:t>Gruppe 1</a:t>
            </a:r>
            <a:endParaRPr sz="1400" b="1" dirty="0">
              <a:latin typeface="Consolas"/>
            </a:endParaRPr>
          </a:p>
          <a:p>
            <a:r>
              <a:rPr lang="de-DE" sz="1400" dirty="0">
                <a:latin typeface="Consolas"/>
              </a:rPr>
              <a:t>├── </a:t>
            </a:r>
            <a:r>
              <a:rPr lang="de-DE" sz="1400" dirty="0" err="1">
                <a:latin typeface="Consolas"/>
              </a:rPr>
              <a:t>musikanalyse</a:t>
            </a:r>
            <a:r>
              <a:rPr lang="de-DE" sz="1400" dirty="0">
                <a:latin typeface="Consolas"/>
              </a:rPr>
              <a:t>/		</a:t>
            </a:r>
            <a:r>
              <a:rPr lang="de-DE" sz="1400" b="1" dirty="0">
                <a:latin typeface="Consolas"/>
              </a:rPr>
              <a:t>Gruppe 2</a:t>
            </a:r>
          </a:p>
          <a:p>
            <a:r>
              <a:rPr lang="de-DE" sz="1400" dirty="0">
                <a:latin typeface="Consolas"/>
              </a:rPr>
              <a:t>├── </a:t>
            </a:r>
            <a:r>
              <a:rPr lang="de-DE" sz="1400" dirty="0" err="1">
                <a:latin typeface="Consolas"/>
              </a:rPr>
              <a:t>wissenschaft</a:t>
            </a:r>
            <a:r>
              <a:rPr lang="de-DE" sz="1400" dirty="0">
                <a:latin typeface="Consolas"/>
              </a:rPr>
              <a:t>/		</a:t>
            </a:r>
            <a:r>
              <a:rPr lang="de-DE" sz="1400" b="1" dirty="0">
                <a:latin typeface="Consolas"/>
              </a:rPr>
              <a:t>Gruppe 3</a:t>
            </a:r>
          </a:p>
          <a:p>
            <a:r>
              <a:rPr sz="1400" dirty="0">
                <a:latin typeface="Consolas"/>
              </a:rPr>
              <a:t>└── </a:t>
            </a:r>
            <a:r>
              <a:rPr sz="1400" dirty="0" err="1">
                <a:latin typeface="Consolas"/>
              </a:rPr>
              <a:t>folien</a:t>
            </a:r>
            <a:r>
              <a:rPr lang="de-DE" sz="1400" dirty="0">
                <a:latin typeface="Consolas"/>
              </a:rPr>
              <a:t>/		</a:t>
            </a:r>
            <a:r>
              <a:rPr sz="1400" b="1" dirty="0" err="1">
                <a:latin typeface="Consolas"/>
              </a:rPr>
              <a:t>gemeinsame</a:t>
            </a:r>
            <a:r>
              <a:rPr sz="1400" b="1" dirty="0">
                <a:latin typeface="Consolas"/>
              </a:rPr>
              <a:t> </a:t>
            </a:r>
            <a:r>
              <a:rPr sz="1400" b="1" dirty="0" err="1">
                <a:latin typeface="Consolas"/>
              </a:rPr>
              <a:t>Folien</a:t>
            </a:r>
            <a:endParaRPr sz="1400" b="1" dirty="0">
              <a:latin typeface="Consola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5848" y="1554480"/>
            <a:ext cx="0" cy="45720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12" name="Text 10"/>
          <p:cNvSpPr/>
          <p:nvPr/>
        </p:nvSpPr>
        <p:spPr>
          <a:xfrm>
            <a:off x="6278728" y="1554480"/>
            <a:ext cx="527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Ablauf einer Sitzung</a:t>
            </a:r>
            <a:endParaRPr lang="de-DE" sz="1800" noProof="1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15996"/>
              </p:ext>
            </p:extLst>
          </p:nvPr>
        </p:nvGraphicFramePr>
        <p:xfrm>
          <a:off x="6278728" y="2011680"/>
          <a:ext cx="5272888" cy="35661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rgbClr val="7A1F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clone</a:t>
                      </a:r>
                      <a:endParaRPr lang="de-DE" sz="1300" noProof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 Code holt das Repository auf den Rechner (einmalig pro Gerät).</a:t>
                      </a:r>
                      <a:endParaRPr lang="de-DE" sz="1300" noProof="1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rgbClr val="7A1F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branch</a:t>
                      </a:r>
                      <a:endParaRPr lang="de-DE" sz="1300" noProof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Neuer Branch pro Sitzung/Gruppe/Projekt …</a:t>
                      </a:r>
                      <a:endParaRPr lang="de-DE" sz="1300" noProof="1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rgbClr val="7A1F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commit</a:t>
                      </a:r>
                      <a:endParaRPr lang="de-DE" sz="1300" noProof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charset="0"/>
                          <a:cs typeface="Georgia" charset="0"/>
                        </a:rPr>
                        <a:t>Nach benennbaren Änderungen immer ein </a:t>
                      </a:r>
                      <a:r>
                        <a:rPr lang="de-DE" sz="1300" b="1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charset="0"/>
                          <a:cs typeface="Georgia" charset="0"/>
                        </a:rPr>
                        <a:t>commit</a:t>
                      </a:r>
                      <a:r>
                        <a:rPr lang="de-DE" sz="13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charset="0"/>
                          <a:cs typeface="Georgia" charset="0"/>
                        </a:rPr>
                        <a:t> initiieren</a:t>
                      </a:r>
                      <a:endParaRPr lang="de-DE" sz="1300" noProof="1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rgbClr val="7A1F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</a:t>
                      </a:r>
                      <a:endParaRPr lang="de-DE" sz="1300" noProof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Commits werden auf GitHub geladen</a:t>
                      </a:r>
                      <a:endParaRPr lang="de-DE" sz="1300" noProof="1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b="1" noProof="1">
                          <a:solidFill>
                            <a:srgbClr val="7A1F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pull request</a:t>
                      </a:r>
                      <a:endParaRPr lang="de-DE" sz="1300" noProof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300" noProof="1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Am Ende: Vorschlag, den Branch in main zu übernehmen.</a:t>
                      </a:r>
                      <a:endParaRPr lang="de-DE" sz="1300" noProof="1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474FA-8C7B-AC97-B7BE-B71C54C4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562659-3C21-BFDD-D869-CEC96584CBC3}"/>
              </a:ext>
            </a:extLst>
          </p:cNvPr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Auftrag</a:t>
            </a:r>
            <a:endParaRPr lang="de-DE" sz="3600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F252CD-1599-5458-A4B6-08236D759010}"/>
              </a:ext>
            </a:extLst>
          </p:cNvPr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88D5E8-D883-FE62-D896-9C22E922DD9C}"/>
              </a:ext>
            </a:extLst>
          </p:cNvPr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de-DE" sz="10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D93C74E-8F99-3231-0986-8F73E6259724}"/>
              </a:ext>
            </a:extLst>
          </p:cNvPr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23D155-FC4A-3DAB-562F-F48F70212E62}"/>
              </a:ext>
            </a:extLst>
          </p:cNvPr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F589C1-0605-D6B6-9A95-F4830F14F71C}"/>
              </a:ext>
            </a:extLst>
          </p:cNvPr>
          <p:cNvSpPr/>
          <p:nvPr/>
        </p:nvSpPr>
        <p:spPr>
          <a:xfrm>
            <a:off x="640080" y="2011679"/>
            <a:ext cx="6363148" cy="1495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3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DE" sz="1500" noProof="1">
                <a:latin typeface="Georgia" pitchFamily="34" charset="0"/>
                <a:ea typeface="Georgia" pitchFamily="34" charset="-122"/>
                <a:cs typeface="Georgia" pitchFamily="34" charset="-120"/>
              </a:rPr>
              <a:t>In Gruppen (Wissenschaft, Musikanalyse, Musikgeschichte) weiterarbeiten</a:t>
            </a:r>
          </a:p>
          <a:p>
            <a:pPr marL="285750" indent="-285750">
              <a:lnSpc>
                <a:spcPct val="13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DE" sz="1500" noProof="1">
                <a:latin typeface="Georgia" pitchFamily="34" charset="0"/>
                <a:ea typeface="Georgia" pitchFamily="34" charset="-122"/>
                <a:cs typeface="Georgia" pitchFamily="34" charset="-120"/>
              </a:rPr>
              <a:t>Am Ende Stand pushen</a:t>
            </a:r>
          </a:p>
          <a:p>
            <a:pPr marL="285750" indent="-285750">
              <a:lnSpc>
                <a:spcPct val="13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DE" sz="1500" noProof="1">
                <a:latin typeface="Georgia" pitchFamily="34" charset="0"/>
                <a:ea typeface="Georgia" pitchFamily="34" charset="-122"/>
                <a:cs typeface="Georgia" pitchFamily="34" charset="-120"/>
              </a:rPr>
              <a:t>Heute Schwerpunkt auf </a:t>
            </a:r>
            <a:r>
              <a:rPr lang="de-DE" sz="1500" b="1" noProof="1">
                <a:latin typeface="Georgia" pitchFamily="34" charset="0"/>
                <a:ea typeface="Georgia" pitchFamily="34" charset="-122"/>
                <a:cs typeface="Georgia" pitchFamily="34" charset="-120"/>
              </a:rPr>
              <a:t>Wissenschaft</a:t>
            </a:r>
          </a:p>
        </p:txBody>
      </p:sp>
    </p:spTree>
    <p:extLst>
      <p:ext uri="{BB962C8B-B14F-4D97-AF65-F5344CB8AC3E}">
        <p14:creationId xmlns:p14="http://schemas.microsoft.com/office/powerpoint/2010/main" val="13547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32940-B582-E426-92FA-AA310F22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77AC32-3A73-DC82-EEE6-297598C0F2E4}"/>
              </a:ext>
            </a:extLst>
          </p:cNvPr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600" b="1" noProof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Referate</a:t>
            </a:r>
            <a:endParaRPr lang="de-DE" sz="3600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A5419C-371D-4EC7-BAAD-9A61850BCA97}"/>
              </a:ext>
            </a:extLst>
          </p:cNvPr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28BEE0-C31A-7499-5470-1AB88EA24226}"/>
              </a:ext>
            </a:extLst>
          </p:cNvPr>
          <p:cNvSpPr/>
          <p:nvPr/>
        </p:nvSpPr>
        <p:spPr>
          <a:xfrm>
            <a:off x="6095848" y="16459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000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de-DE" sz="1000" noProof="1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9AF09C-A216-DDDF-F23E-1D67C4C90476}"/>
              </a:ext>
            </a:extLst>
          </p:cNvPr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13658B-EEBB-8D46-424B-D8D6ED88D5F8}"/>
              </a:ext>
            </a:extLst>
          </p:cNvPr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00" i="1" noProof="1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Vibe-Coding-Seminar · 3. Sitzung</a:t>
            </a:r>
            <a:endParaRPr lang="de-DE" sz="100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E9902D-91E1-EE81-0E22-700DC9E7C838}"/>
              </a:ext>
            </a:extLst>
          </p:cNvPr>
          <p:cNvSpPr/>
          <p:nvPr/>
        </p:nvSpPr>
        <p:spPr>
          <a:xfrm>
            <a:off x="640080" y="2011679"/>
            <a:ext cx="6363148" cy="1495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3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DE" sz="1500" noProof="1">
                <a:latin typeface="Georgia" pitchFamily="34" charset="0"/>
                <a:ea typeface="Georgia" pitchFamily="34" charset="-122"/>
                <a:cs typeface="Georgia" pitchFamily="34" charset="-120"/>
              </a:rPr>
              <a:t>Eigenes Projekt umsetzen und vorstellen</a:t>
            </a:r>
            <a:endParaRPr lang="de-DE" sz="1500" b="1" noProof="1"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4529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Macintosh PowerPoint</Application>
  <PresentationFormat>Breitbild</PresentationFormat>
  <Paragraphs>113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Consolas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</dc:title>
  <dc:subject>PptxGenJS Presentation</dc:subject>
  <dc:creator>PptxGenJS</dc:creator>
  <cp:lastModifiedBy>Niels Pfeffer</cp:lastModifiedBy>
  <cp:revision>40</cp:revision>
  <dcterms:created xsi:type="dcterms:W3CDTF">2026-05-07T08:55:06Z</dcterms:created>
  <dcterms:modified xsi:type="dcterms:W3CDTF">2026-05-07T09:57:52Z</dcterms:modified>
</cp:coreProperties>
</file>