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88" d="100"/>
          <a:sy n="8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10235-E78D-8F44-9368-18224BC7176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E820F-09D2-E845-9C4C-C9FB77439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79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E820F-09D2-E845-9C4C-C9FB774393C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149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22691-B248-B6C8-3888-C5C1A261A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5B23813-7C46-3D71-2C01-6DC4A2903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0568B0-C6E0-5149-DD5C-1285E35D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2B2F6F-53C6-031D-7E96-3CBA8F2E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DC2FAD-F7AC-53A1-4A94-4A320E1F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249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60B98-7344-CB57-4BD6-CD65E433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455F8D-5CF5-B925-5D1E-2F98E043E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EA8E88-2358-A053-751D-BF53C9E9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F4A0C2-799C-10DF-2FC3-9E43CB46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2453E9-0EF2-488D-DAF1-830097F8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69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1DEC4-5A5A-7A80-6FA3-F9203BCC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FA5875-574F-648E-DCAD-C47C28EF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C57BB7-A34D-3162-E6D8-A9D73F30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3F3EB9-E716-4155-AC9D-F066F9C5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0CA666-CC6A-2813-359C-58573432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15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A6750-BAA5-32A6-5AEB-FCF87B9E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9F3CFA-7381-44B3-2E24-87FEB9C8E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A80C31-AA9D-F339-D854-9D9D31B6F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74C594-E1E5-A3B0-B289-F8A87451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2120D9-AF20-EBBF-FFE7-E7A4C6F4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8E17AC-0350-0BD7-5219-FBD716D0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145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4CE157-B43E-2AB4-2A9F-A070A713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43B3DC-34D9-4E58-5377-C04649AA7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FE3767-085A-0504-59FC-72C55E3DD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5CDE4FE-4C25-8DEC-1377-B71FFE102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745798-E630-259F-0228-701C30F08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D5078DF-76D4-A2FD-080F-64BDF769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2820B-FCEC-F4A6-224E-625BAB07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FB934D2-17E1-67BD-05C1-6BC68E52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52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2D3FD2-2B76-009D-4BE7-1C0C6BD9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9F40B2-F5C6-FBC0-C1EF-505C7433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CFC5E8-5552-934D-8CFF-98A0D6BD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CBE0F8-6291-00F8-9B21-22868911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20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23392A-111B-8722-615A-9ABBECCE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C4F7E5-1280-C913-D2AF-30A57136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AF6AC9-39D5-897C-5206-D781D32E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03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1DE13-0001-2ECC-D1C5-98931CDF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EBA809-5F61-727F-0372-CD6442413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4AE55F-12AD-FB58-5615-927E7DC37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FFF517-0372-6899-9322-3D1BF8E5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8D4021-8A4C-0CD1-49B0-30A99163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E5DD1C-2ABD-B166-63B6-8C7E8B09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3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6DAE77-5F8B-B5F1-A90B-B92AAF3B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C97C21C-0B17-E2A2-8C99-65B4FFF7F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6EF259-6B54-4C85-DA00-636ABE8CF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10AE27-D07F-1EA4-CB8F-E2A41608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BE861B-1BAB-C226-2238-B12B1E05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AE08D0-BF2B-4F6B-DB52-26DF7E4F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591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D897B-C4B2-C6FD-1748-41474A8B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5F7FDE-9DA9-C3DC-9623-C30F3D383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254878-01A4-BE27-BC7D-67ECADE4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65FF07-3CA7-3B28-EFFC-211E2A8A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4F67BC-7BE9-84C9-992D-E3471DAB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364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7168C38-86C5-3BB9-F275-F67D8D735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56E7E2-F670-0608-5808-9952ED3C4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8F001F-349B-5099-2647-3070B6F9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803C2-53F5-5E91-D24F-566DCC6D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82D0EE-114C-12A9-03C5-B9A0AF42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973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F9D3CB-0B0C-DF28-1979-7CA4077D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780D7D-7C35-B667-ADA4-52525046E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56E257-6605-F178-AC99-A27D22ECF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50D15-5E2F-2545-93C2-3F3F1D8322F0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72D868-A737-A1BA-E277-EDD9AEE2D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62435D-02DA-5AC8-790C-0CE231301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D04B9-E8DB-DB48-A550-59F7199C8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6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D093B-2E33-A4A1-8FA8-0ED93964E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412A74-DD91-6ADB-39B0-A5D0B10D1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53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B1850-2923-0B28-6D83-9DA6D97F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600" dirty="0"/>
              <a:t>Agent ≠ Chat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4E6EE77-E8B7-1F59-5D79-6353720C5179}"/>
              </a:ext>
            </a:extLst>
          </p:cNvPr>
          <p:cNvSpPr/>
          <p:nvPr/>
        </p:nvSpPr>
        <p:spPr>
          <a:xfrm>
            <a:off x="936702" y="2865863"/>
            <a:ext cx="1728439" cy="563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Prompt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D334FE9-3787-9F66-D5C0-50702FD15250}"/>
              </a:ext>
            </a:extLst>
          </p:cNvPr>
          <p:cNvSpPr/>
          <p:nvPr/>
        </p:nvSpPr>
        <p:spPr>
          <a:xfrm>
            <a:off x="3586976" y="2865862"/>
            <a:ext cx="1728439" cy="563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Informationen sammeln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AD090F2-C0E9-642A-CC50-1562A323D10A}"/>
              </a:ext>
            </a:extLst>
          </p:cNvPr>
          <p:cNvSpPr/>
          <p:nvPr/>
        </p:nvSpPr>
        <p:spPr>
          <a:xfrm>
            <a:off x="5545874" y="2865861"/>
            <a:ext cx="1728439" cy="563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Aktion ausführen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A3C1155-E4DF-56A5-FE39-504ECF112E51}"/>
              </a:ext>
            </a:extLst>
          </p:cNvPr>
          <p:cNvSpPr/>
          <p:nvPr/>
        </p:nvSpPr>
        <p:spPr>
          <a:xfrm>
            <a:off x="7504772" y="2865860"/>
            <a:ext cx="1728439" cy="563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Verifizieren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6006029-9D7E-D416-D26F-04AEF96278F3}"/>
              </a:ext>
            </a:extLst>
          </p:cNvPr>
          <p:cNvSpPr/>
          <p:nvPr/>
        </p:nvSpPr>
        <p:spPr>
          <a:xfrm>
            <a:off x="9800522" y="2865860"/>
            <a:ext cx="1728439" cy="56313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fertig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F1B1E79-CB95-0FCC-8424-5C13D4B8EB0C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665141" y="3147431"/>
            <a:ext cx="9218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585DBCE-9F39-C5FE-0489-6118ADA1459C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5315415" y="3147430"/>
            <a:ext cx="2304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CE6E1DC-A97F-DFEA-FB81-39F8A752400D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7274313" y="3147429"/>
            <a:ext cx="2304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winkelte Verbindung 24">
            <a:extLst>
              <a:ext uri="{FF2B5EF4-FFF2-40B4-BE49-F238E27FC236}">
                <a16:creationId xmlns:a16="http://schemas.microsoft.com/office/drawing/2014/main" id="{80CC2A43-5B33-0F98-8753-158A4C02D17A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5400000">
            <a:off x="6410093" y="1470100"/>
            <a:ext cx="2" cy="3917796"/>
          </a:xfrm>
          <a:prstGeom prst="bentConnector3">
            <a:avLst>
              <a:gd name="adj1" fmla="val 1143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9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91DEA50-3835-67AA-103C-B1E1D35B0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8683" cy="687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353AA21-8B09-4A1A-FBCA-8FF5EAD1941F}"/>
              </a:ext>
            </a:extLst>
          </p:cNvPr>
          <p:cNvSpPr txBox="1"/>
          <p:nvPr/>
        </p:nvSpPr>
        <p:spPr>
          <a:xfrm>
            <a:off x="4371278" y="679553"/>
            <a:ext cx="60997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Gruppe 1: </a:t>
            </a:r>
            <a:r>
              <a:rPr lang="de-DE" sz="2600" b="1" dirty="0"/>
              <a:t>Musikgeschichte</a:t>
            </a:r>
            <a:endParaRPr lang="de-DE" sz="26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10D5B58-00EF-0521-F407-FD09DECAD69A}"/>
              </a:ext>
            </a:extLst>
          </p:cNvPr>
          <p:cNvSpPr txBox="1"/>
          <p:nvPr/>
        </p:nvSpPr>
        <p:spPr>
          <a:xfrm>
            <a:off x="4493941" y="1349298"/>
            <a:ext cx="72594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Charles Burney veröffentlichte 1771 umfangreiche Reisetagebücher, in denen er das musikalische Leben an seinen verschiedenen Stationen beschreibt. </a:t>
            </a:r>
          </a:p>
          <a:p>
            <a:endParaRPr lang="de-DE" dirty="0"/>
          </a:p>
          <a:p>
            <a:r>
              <a:rPr lang="de-DE" i="1" dirty="0"/>
              <a:t>The </a:t>
            </a:r>
            <a:r>
              <a:rPr lang="de-DE" i="1" dirty="0" err="1"/>
              <a:t>Present</a:t>
            </a:r>
            <a:r>
              <a:rPr lang="de-DE" i="1" dirty="0"/>
              <a:t> State </a:t>
            </a:r>
            <a:r>
              <a:rPr lang="de-DE" i="1" dirty="0" err="1"/>
              <a:t>of</a:t>
            </a:r>
            <a:r>
              <a:rPr lang="de-DE" i="1" dirty="0"/>
              <a:t> Music in France and </a:t>
            </a:r>
            <a:r>
              <a:rPr lang="de-DE" i="1" dirty="0" err="1"/>
              <a:t>Italy</a:t>
            </a:r>
            <a:r>
              <a:rPr lang="de-DE" i="1" dirty="0"/>
              <a:t>: </a:t>
            </a:r>
            <a:r>
              <a:rPr lang="de-DE" i="1" dirty="0" err="1"/>
              <a:t>or</a:t>
            </a:r>
            <a:r>
              <a:rPr lang="de-DE" i="1" dirty="0"/>
              <a:t>, </a:t>
            </a:r>
            <a:r>
              <a:rPr lang="de-DE" i="1" dirty="0" err="1"/>
              <a:t>the</a:t>
            </a:r>
            <a:r>
              <a:rPr lang="de-DE" i="1" dirty="0"/>
              <a:t> Journal </a:t>
            </a:r>
            <a:r>
              <a:rPr lang="de-DE" i="1" dirty="0" err="1"/>
              <a:t>of</a:t>
            </a:r>
            <a:r>
              <a:rPr lang="de-DE" i="1" dirty="0"/>
              <a:t> a Tour </a:t>
            </a:r>
            <a:r>
              <a:rPr lang="de-DE" i="1" dirty="0" err="1"/>
              <a:t>trough</a:t>
            </a:r>
            <a:r>
              <a:rPr lang="de-DE" i="1" dirty="0"/>
              <a:t> </a:t>
            </a:r>
            <a:r>
              <a:rPr lang="de-DE" i="1" dirty="0" err="1"/>
              <a:t>Those</a:t>
            </a:r>
            <a:r>
              <a:rPr lang="de-DE" i="1" dirty="0"/>
              <a:t> Countries, </a:t>
            </a:r>
            <a:r>
              <a:rPr lang="de-DE" i="1" dirty="0" err="1"/>
              <a:t>Undertaken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Collect</a:t>
            </a:r>
            <a:r>
              <a:rPr lang="de-DE" i="1" dirty="0"/>
              <a:t> Materials </a:t>
            </a:r>
            <a:r>
              <a:rPr lang="de-DE" i="1" dirty="0" err="1"/>
              <a:t>for</a:t>
            </a:r>
            <a:r>
              <a:rPr lang="de-DE" i="1" dirty="0"/>
              <a:t> a General </a:t>
            </a:r>
            <a:r>
              <a:rPr lang="de-DE" i="1" dirty="0" err="1"/>
              <a:t>History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Music</a:t>
            </a:r>
            <a:r>
              <a:rPr lang="de-DE" dirty="0"/>
              <a:t>, London 1771</a:t>
            </a:r>
          </a:p>
          <a:p>
            <a:endParaRPr lang="de-DE" dirty="0"/>
          </a:p>
          <a:p>
            <a:r>
              <a:rPr lang="de-DE" b="1" dirty="0"/>
              <a:t>Zeitgenössische Übersetzung:</a:t>
            </a:r>
          </a:p>
          <a:p>
            <a:r>
              <a:rPr lang="de-DE" i="1" dirty="0"/>
              <a:t>Tagebuch einer Musikalischen Reise durch Frankreich und Italien</a:t>
            </a:r>
            <a:r>
              <a:rPr lang="de-DE" dirty="0"/>
              <a:t>, </a:t>
            </a:r>
            <a:r>
              <a:rPr lang="de-DE" dirty="0" err="1"/>
              <a:t>übs</a:t>
            </a:r>
            <a:r>
              <a:rPr lang="de-DE" dirty="0"/>
              <a:t>. von Christian Ebeling, Hamburg. 1772;</a:t>
            </a:r>
          </a:p>
        </p:txBody>
      </p:sp>
    </p:spTree>
    <p:extLst>
      <p:ext uri="{BB962C8B-B14F-4D97-AF65-F5344CB8AC3E}">
        <p14:creationId xmlns:p14="http://schemas.microsoft.com/office/powerpoint/2010/main" val="139029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4F669-747D-4A9B-6F77-0FD3AB9C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59F1AE1-2937-1584-3947-ADB28527F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8683" cy="687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010EB2E-D358-E776-1F79-3F652ECFCA01}"/>
              </a:ext>
            </a:extLst>
          </p:cNvPr>
          <p:cNvSpPr txBox="1"/>
          <p:nvPr/>
        </p:nvSpPr>
        <p:spPr>
          <a:xfrm>
            <a:off x="4371278" y="679553"/>
            <a:ext cx="60997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Gruppe 1: </a:t>
            </a:r>
            <a:r>
              <a:rPr lang="de-DE" sz="2600" b="1" dirty="0"/>
              <a:t>Musikgeschichte</a:t>
            </a:r>
            <a:endParaRPr lang="de-DE" sz="26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E8EF513-B718-1B3D-BDC0-791660CEBF65}"/>
              </a:ext>
            </a:extLst>
          </p:cNvPr>
          <p:cNvSpPr txBox="1"/>
          <p:nvPr/>
        </p:nvSpPr>
        <p:spPr>
          <a:xfrm>
            <a:off x="4493941" y="1349298"/>
            <a:ext cx="72594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Aufgabe</a:t>
            </a:r>
            <a:r>
              <a:rPr lang="de-DE" dirty="0"/>
              <a:t>: Schreibt eine Anwendung, die Burneys Reisen interaktiv visualisiert.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Hinweise: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OCR-Text online finden – muss nicht perfekt sein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Lassen sich weitere Verknüpfungen herstellen?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Welche Informationen könnten aus dem Text extrahiert und digital weiterverarbeitet werden?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Arbeitsschritte protokollieren</a:t>
            </a:r>
          </a:p>
        </p:txBody>
      </p:sp>
    </p:spTree>
    <p:extLst>
      <p:ext uri="{BB962C8B-B14F-4D97-AF65-F5344CB8AC3E}">
        <p14:creationId xmlns:p14="http://schemas.microsoft.com/office/powerpoint/2010/main" val="401760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D4DF-367F-6533-48BF-E95AF2D8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353AD43B-D0A4-5932-FCEC-C4380B1EEDF3}"/>
              </a:ext>
            </a:extLst>
          </p:cNvPr>
          <p:cNvSpPr txBox="1"/>
          <p:nvPr/>
        </p:nvSpPr>
        <p:spPr>
          <a:xfrm>
            <a:off x="4371278" y="679553"/>
            <a:ext cx="60997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Gruppe 2: </a:t>
            </a:r>
            <a:r>
              <a:rPr lang="de-DE" sz="2600" b="1" dirty="0"/>
              <a:t>Musikanalyse</a:t>
            </a:r>
            <a:endParaRPr lang="de-DE" sz="26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EF3066D-6DFC-651C-366D-9B228D648B58}"/>
              </a:ext>
            </a:extLst>
          </p:cNvPr>
          <p:cNvSpPr txBox="1"/>
          <p:nvPr/>
        </p:nvSpPr>
        <p:spPr>
          <a:xfrm>
            <a:off x="4493941" y="1349298"/>
            <a:ext cx="7259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Aufgabe: </a:t>
            </a:r>
            <a:r>
              <a:rPr lang="de-DE" dirty="0"/>
              <a:t>Welche musikanalytischen Fragen können an einen digitalen Notenkorpus gestellt werden?</a:t>
            </a:r>
          </a:p>
          <a:p>
            <a:endParaRPr lang="de-DE" dirty="0"/>
          </a:p>
          <a:p>
            <a:r>
              <a:rPr lang="de-DE" dirty="0"/>
              <a:t>Was funktioniert mit wie viel Aufwand? Was nicht – und weshalb?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26E210A-92B4-FF6E-1B0F-DB5C90BC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5" y="679553"/>
            <a:ext cx="3845890" cy="550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1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94069-4F3A-2941-98E0-2C8AA56E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ECC4FC2A-B99B-4647-5FAA-54FAAA6F0DED}"/>
              </a:ext>
            </a:extLst>
          </p:cNvPr>
          <p:cNvSpPr txBox="1"/>
          <p:nvPr/>
        </p:nvSpPr>
        <p:spPr>
          <a:xfrm>
            <a:off x="4371278" y="679553"/>
            <a:ext cx="60997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Gruppe 2: </a:t>
            </a:r>
            <a:r>
              <a:rPr lang="de-DE" sz="2600" b="1" dirty="0"/>
              <a:t>Musikanalyse</a:t>
            </a:r>
            <a:endParaRPr lang="de-DE" sz="26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C7C8192-0911-1758-544D-9C050A777A70}"/>
              </a:ext>
            </a:extLst>
          </p:cNvPr>
          <p:cNvSpPr txBox="1"/>
          <p:nvPr/>
        </p:nvSpPr>
        <p:spPr>
          <a:xfrm>
            <a:off x="4493941" y="1349298"/>
            <a:ext cx="72594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Aufgabe</a:t>
            </a:r>
            <a:r>
              <a:rPr lang="de-DE" dirty="0"/>
              <a:t>: Welche musikanalytischen Fragen können an einen digitalen Notenkorpus gestellt werden?</a:t>
            </a:r>
            <a:br>
              <a:rPr lang="de-DE" dirty="0"/>
            </a:br>
            <a:endParaRPr lang="de-DE" dirty="0"/>
          </a:p>
          <a:p>
            <a:r>
              <a:rPr lang="de-DE" dirty="0"/>
              <a:t>Was funktioniert mit wie viel Aufwand? Was nicht – und weshalb?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Hinweise: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Für harmonische/kontrapunktische Fragestellungen weniger stark figurierte Musik verwenden (z. B. Bach-Choräle)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Evtl. technische Hilfestellung geben (</a:t>
            </a:r>
            <a:r>
              <a:rPr lang="de-DE" b="1" dirty="0"/>
              <a:t>music21</a:t>
            </a:r>
            <a:r>
              <a:rPr lang="de-DE" dirty="0"/>
              <a:t> z. B. bringt Korpora bereits mit, </a:t>
            </a:r>
            <a:r>
              <a:rPr lang="de-DE" b="1" dirty="0" err="1"/>
              <a:t>verovio</a:t>
            </a:r>
            <a:r>
              <a:rPr lang="de-DE" b="1" dirty="0"/>
              <a:t> </a:t>
            </a:r>
            <a:r>
              <a:rPr lang="de-DE" dirty="0"/>
              <a:t>zum Darstellen von Notentexten)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563732A-77E6-053A-8005-52C83B4E4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5" y="679553"/>
            <a:ext cx="3845890" cy="550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50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ECBE-3A43-F871-36D8-D62502A8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37A89F4F-9701-E9AE-8719-8BB0AC0BC2E9}"/>
              </a:ext>
            </a:extLst>
          </p:cNvPr>
          <p:cNvSpPr txBox="1"/>
          <p:nvPr/>
        </p:nvSpPr>
        <p:spPr>
          <a:xfrm>
            <a:off x="4371278" y="679553"/>
            <a:ext cx="60997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Gruppe 2: </a:t>
            </a:r>
            <a:r>
              <a:rPr lang="de-DE" sz="2600" b="1" dirty="0"/>
              <a:t>Wissenschaft</a:t>
            </a:r>
            <a:endParaRPr lang="de-DE" sz="26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43FCA17-9608-0C33-7038-D5814001DC3C}"/>
              </a:ext>
            </a:extLst>
          </p:cNvPr>
          <p:cNvSpPr txBox="1"/>
          <p:nvPr/>
        </p:nvSpPr>
        <p:spPr>
          <a:xfrm>
            <a:off x="4371278" y="1371600"/>
            <a:ext cx="72594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Aufgabe</a:t>
            </a:r>
            <a:r>
              <a:rPr lang="de-DE" dirty="0"/>
              <a:t>: Ist Claude Code in der Lage, bei (musik-)wissenschaftlichem Arbeiten zu helfen? Oder gar autonom wissenschaftlich zu arbeiten?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Experimentiert mit: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Recherche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Korrekturen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Visualisierungen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7D556EC-1359-2356-BFEC-D302EB641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08" y="1657814"/>
            <a:ext cx="901700" cy="1066800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887AA292-3E69-C0A4-28C3-D2DDB75B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2642" y="3130782"/>
            <a:ext cx="31750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9824EC5-DF57-4EAA-60FD-F6F0EFF28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358" y="1975082"/>
            <a:ext cx="574742" cy="43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ILM">
            <a:extLst>
              <a:ext uri="{FF2B5EF4-FFF2-40B4-BE49-F238E27FC236}">
                <a16:creationId xmlns:a16="http://schemas.microsoft.com/office/drawing/2014/main" id="{2DE1C7DA-288C-5A80-FE84-3CB87CE46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14" y="3892550"/>
            <a:ext cx="919843" cy="84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79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9CAC-7906-AAF5-6BDB-9496E0C9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9ABC3036-9DDD-B270-B368-0D7D9BC1880E}"/>
              </a:ext>
            </a:extLst>
          </p:cNvPr>
          <p:cNvSpPr txBox="1"/>
          <p:nvPr/>
        </p:nvSpPr>
        <p:spPr>
          <a:xfrm>
            <a:off x="4371278" y="679553"/>
            <a:ext cx="60997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Gruppe 2: </a:t>
            </a:r>
            <a:r>
              <a:rPr lang="de-DE" sz="2600" b="1" dirty="0"/>
              <a:t>Wissenschaft</a:t>
            </a:r>
            <a:endParaRPr lang="de-DE" sz="26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543393-EBE5-F244-222B-9520AD2FA2DB}"/>
              </a:ext>
            </a:extLst>
          </p:cNvPr>
          <p:cNvSpPr txBox="1"/>
          <p:nvPr/>
        </p:nvSpPr>
        <p:spPr>
          <a:xfrm>
            <a:off x="4371278" y="1371600"/>
            <a:ext cx="72594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Aufgabe</a:t>
            </a:r>
            <a:r>
              <a:rPr lang="de-DE" dirty="0"/>
              <a:t>: Ist Claude Code in der Lage, bei (musik-)wissenschaftlichem Arbeiten zu helfen? Oder gar autonom wissenschaftlich zu arbeiten?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Experimentiert mit: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Recherche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Korrekturen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Visualisierungen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Sinnvoll: Browsererweiterung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4DE755A-3AB9-671E-A1C3-BD40B05B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08" y="1657814"/>
            <a:ext cx="901700" cy="1066800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892FEDA-E50B-C475-E63A-72EC84A31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2642" y="3130782"/>
            <a:ext cx="31750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6526AE8-FFED-EAF1-FA5A-DAD5A32E2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358" y="1975082"/>
            <a:ext cx="574742" cy="43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ILM">
            <a:extLst>
              <a:ext uri="{FF2B5EF4-FFF2-40B4-BE49-F238E27FC236}">
                <a16:creationId xmlns:a16="http://schemas.microsoft.com/office/drawing/2014/main" id="{19BE14D3-86DB-C965-5F93-373DC1426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14" y="3892550"/>
            <a:ext cx="919843" cy="84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14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Macintosh PowerPoint</Application>
  <PresentationFormat>Breitbild</PresentationFormat>
  <Paragraphs>56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Agent ≠ Chat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Pfeffer</dc:creator>
  <cp:lastModifiedBy>Niels Pfeffer</cp:lastModifiedBy>
  <cp:revision>17</cp:revision>
  <dcterms:created xsi:type="dcterms:W3CDTF">2026-04-23T08:50:05Z</dcterms:created>
  <dcterms:modified xsi:type="dcterms:W3CDTF">2026-04-23T10:15:00Z</dcterms:modified>
</cp:coreProperties>
</file>